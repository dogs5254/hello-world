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16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1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2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45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37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27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3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15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3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05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808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856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219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506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1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031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52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1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My Study on CNN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2017/1/31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442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Part 1 – Feature Extraction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2015069" y="3895344"/>
            <a:ext cx="6553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  <a:cs typeface="Arial Unicode MS" panose="020B0604020202020204" pitchFamily="34" charset="-120"/>
              </a:rPr>
              <a:t>由</a:t>
            </a:r>
            <a:r>
              <a:rPr lang="zh-TW" altLang="en-US" dirty="0" smtClean="0">
                <a:latin typeface="Adobe 仿宋 Std R" panose="02020400000000000000" pitchFamily="18" charset="-128"/>
                <a:ea typeface="Adobe 仿宋 Std R" panose="02020400000000000000" pitchFamily="18" charset="-128"/>
                <a:cs typeface="Arial Unicode MS" panose="020B0604020202020204" pitchFamily="34" charset="-120"/>
              </a:rPr>
              <a:t>簡單例子解釋，為什麼 </a:t>
            </a:r>
            <a:r>
              <a:rPr lang="en-US" altLang="zh-TW" dirty="0" smtClean="0">
                <a:latin typeface="Adobe 仿宋 Std R" panose="02020400000000000000" pitchFamily="18" charset="-128"/>
                <a:ea typeface="Adobe 仿宋 Std R" panose="02020400000000000000" pitchFamily="18" charset="-128"/>
                <a:cs typeface="Arial Unicode MS" panose="020B0604020202020204" pitchFamily="34" charset="-120"/>
              </a:rPr>
              <a:t>Convolutional Layer </a:t>
            </a:r>
            <a:r>
              <a:rPr lang="zh-TW" altLang="en-US" dirty="0" smtClean="0">
                <a:latin typeface="Adobe 仿宋 Std R" panose="02020400000000000000" pitchFamily="18" charset="-128"/>
                <a:ea typeface="Adobe 仿宋 Std R" panose="02020400000000000000" pitchFamily="18" charset="-128"/>
                <a:cs typeface="Arial Unicode MS" panose="020B0604020202020204" pitchFamily="34" charset="-120"/>
              </a:rPr>
              <a:t>的 </a:t>
            </a:r>
            <a:r>
              <a:rPr lang="en-US" altLang="zh-TW" dirty="0" smtClean="0">
                <a:latin typeface="Adobe 仿宋 Std R" panose="02020400000000000000" pitchFamily="18" charset="-128"/>
                <a:ea typeface="Adobe 仿宋 Std R" panose="02020400000000000000" pitchFamily="18" charset="-128"/>
                <a:cs typeface="Arial Unicode MS" panose="020B0604020202020204" pitchFamily="34" charset="-120"/>
              </a:rPr>
              <a:t>Filter </a:t>
            </a:r>
            <a:r>
              <a:rPr lang="zh-TW" altLang="en-US" dirty="0" smtClean="0">
                <a:latin typeface="Adobe 仿宋 Std R" panose="02020400000000000000" pitchFamily="18" charset="-128"/>
                <a:ea typeface="Adobe 仿宋 Std R" panose="02020400000000000000" pitchFamily="18" charset="-128"/>
                <a:cs typeface="Arial Unicode MS" panose="020B0604020202020204" pitchFamily="34" charset="-120"/>
              </a:rPr>
              <a:t>是三維 </a:t>
            </a:r>
            <a:endParaRPr lang="zh-TW" altLang="en-US" dirty="0">
              <a:latin typeface="Adobe 仿宋 Std R" panose="02020400000000000000" pitchFamily="18" charset="-128"/>
              <a:ea typeface="Adobe 仿宋 Std R" panose="02020400000000000000" pitchFamily="18" charset="-128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058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Image (Assume zero-padding)</a:t>
            </a:r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2139696" y="2577253"/>
            <a:ext cx="2505456" cy="2532888"/>
            <a:chOff x="2112264" y="3118104"/>
            <a:chExt cx="2505456" cy="2532888"/>
          </a:xfrm>
        </p:grpSpPr>
        <p:sp>
          <p:nvSpPr>
            <p:cNvPr id="3" name="矩形 2"/>
            <p:cNvSpPr/>
            <p:nvPr/>
          </p:nvSpPr>
          <p:spPr>
            <a:xfrm>
              <a:off x="2112264" y="3118104"/>
              <a:ext cx="2505456" cy="2532888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2200656" y="3206496"/>
              <a:ext cx="1520952" cy="96316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2961132" y="4556760"/>
              <a:ext cx="1520952" cy="96316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178182"/>
              </p:ext>
            </p:extLst>
          </p:nvPr>
        </p:nvGraphicFramePr>
        <p:xfrm>
          <a:off x="6408929" y="2577253"/>
          <a:ext cx="4106673" cy="35492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</a:tblGrid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1588780" y="5198533"/>
            <a:ext cx="4393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We can recognize the ▲ pattern by</a:t>
            </a:r>
          </a:p>
          <a:p>
            <a:r>
              <a:rPr lang="en-US" altLang="zh-TW" sz="2400" dirty="0"/>
              <a:t>j</a:t>
            </a:r>
            <a:r>
              <a:rPr lang="en-US" altLang="zh-TW" sz="2400" dirty="0" smtClean="0"/>
              <a:t>ust using 2-layer CNN.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8140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Layer 1 – Three </a:t>
            </a:r>
            <a:r>
              <a:rPr lang="en-US" altLang="zh-TW" dirty="0" smtClean="0"/>
              <a:t>Filters (2D)</a:t>
            </a:r>
            <a:endParaRPr lang="zh-TW" altLang="en-US" dirty="0"/>
          </a:p>
        </p:txBody>
      </p:sp>
      <p:grpSp>
        <p:nvGrpSpPr>
          <p:cNvPr id="20" name="群組 19"/>
          <p:cNvGrpSpPr/>
          <p:nvPr/>
        </p:nvGrpSpPr>
        <p:grpSpPr>
          <a:xfrm>
            <a:off x="1709928" y="3273552"/>
            <a:ext cx="1472184" cy="1362456"/>
            <a:chOff x="1709928" y="3273552"/>
            <a:chExt cx="1472184" cy="1362456"/>
          </a:xfrm>
        </p:grpSpPr>
        <p:sp>
          <p:nvSpPr>
            <p:cNvPr id="3" name="矩形 2"/>
            <p:cNvSpPr/>
            <p:nvPr/>
          </p:nvSpPr>
          <p:spPr>
            <a:xfrm>
              <a:off x="1709928" y="3273552"/>
              <a:ext cx="1472184" cy="13624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" name="直線接點 4"/>
            <p:cNvCxnSpPr/>
            <p:nvPr/>
          </p:nvCxnSpPr>
          <p:spPr>
            <a:xfrm flipH="1">
              <a:off x="1993392" y="3529584"/>
              <a:ext cx="877824" cy="9052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950141"/>
              </p:ext>
            </p:extLst>
          </p:nvPr>
        </p:nvGraphicFramePr>
        <p:xfrm>
          <a:off x="3769361" y="3197691"/>
          <a:ext cx="1707894" cy="16120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569298"/>
                <a:gridCol w="569298"/>
                <a:gridCol w="569298"/>
              </a:tblGrid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1" name="群組 20"/>
          <p:cNvGrpSpPr/>
          <p:nvPr/>
        </p:nvGrpSpPr>
        <p:grpSpPr>
          <a:xfrm>
            <a:off x="6233160" y="2592324"/>
            <a:ext cx="1472184" cy="1362456"/>
            <a:chOff x="6233160" y="2592324"/>
            <a:chExt cx="1472184" cy="1362456"/>
          </a:xfrm>
        </p:grpSpPr>
        <p:sp>
          <p:nvSpPr>
            <p:cNvPr id="7" name="矩形 6"/>
            <p:cNvSpPr/>
            <p:nvPr/>
          </p:nvSpPr>
          <p:spPr>
            <a:xfrm>
              <a:off x="6233160" y="2592324"/>
              <a:ext cx="1472184" cy="13624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接點 7"/>
            <p:cNvCxnSpPr/>
            <p:nvPr/>
          </p:nvCxnSpPr>
          <p:spPr>
            <a:xfrm>
              <a:off x="6501384" y="2834640"/>
              <a:ext cx="960120" cy="9052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708733"/>
              </p:ext>
            </p:extLst>
          </p:nvPr>
        </p:nvGraphicFramePr>
        <p:xfrm>
          <a:off x="8265161" y="2510028"/>
          <a:ext cx="1707894" cy="16120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569298"/>
                <a:gridCol w="569298"/>
                <a:gridCol w="569298"/>
              </a:tblGrid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512619"/>
              </p:ext>
            </p:extLst>
          </p:nvPr>
        </p:nvGraphicFramePr>
        <p:xfrm>
          <a:off x="8265161" y="4403005"/>
          <a:ext cx="1707894" cy="16120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569298"/>
                <a:gridCol w="569298"/>
                <a:gridCol w="569298"/>
              </a:tblGrid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37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2" name="群組 21"/>
          <p:cNvGrpSpPr/>
          <p:nvPr/>
        </p:nvGrpSpPr>
        <p:grpSpPr>
          <a:xfrm>
            <a:off x="6245352" y="4527804"/>
            <a:ext cx="1472184" cy="1362456"/>
            <a:chOff x="6245352" y="4527804"/>
            <a:chExt cx="1472184" cy="1362456"/>
          </a:xfrm>
        </p:grpSpPr>
        <p:sp>
          <p:nvSpPr>
            <p:cNvPr id="15" name="矩形 14"/>
            <p:cNvSpPr/>
            <p:nvPr/>
          </p:nvSpPr>
          <p:spPr>
            <a:xfrm>
              <a:off x="6245352" y="4527804"/>
              <a:ext cx="1472184" cy="13624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6501384" y="5209031"/>
              <a:ext cx="100990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59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06361"/>
              </p:ext>
            </p:extLst>
          </p:nvPr>
        </p:nvGraphicFramePr>
        <p:xfrm>
          <a:off x="1043917" y="2497502"/>
          <a:ext cx="4106673" cy="35492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</a:tblGrid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Layer 1 Feature Map 1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447551"/>
              </p:ext>
            </p:extLst>
          </p:nvPr>
        </p:nvGraphicFramePr>
        <p:xfrm>
          <a:off x="5537846" y="4148469"/>
          <a:ext cx="1475601" cy="1392795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491867"/>
                <a:gridCol w="491867"/>
                <a:gridCol w="491867"/>
              </a:tblGrid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</a:tr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</a:tr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5744465" y="3002450"/>
            <a:ext cx="939842" cy="963138"/>
            <a:chOff x="1709928" y="3273552"/>
            <a:chExt cx="1472184" cy="1362456"/>
          </a:xfrm>
        </p:grpSpPr>
        <p:sp>
          <p:nvSpPr>
            <p:cNvPr id="9" name="矩形 8"/>
            <p:cNvSpPr/>
            <p:nvPr/>
          </p:nvSpPr>
          <p:spPr>
            <a:xfrm>
              <a:off x="1709928" y="3273552"/>
              <a:ext cx="1472184" cy="13624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接點 9"/>
            <p:cNvCxnSpPr/>
            <p:nvPr/>
          </p:nvCxnSpPr>
          <p:spPr>
            <a:xfrm flipH="1">
              <a:off x="1993392" y="3529584"/>
              <a:ext cx="877824" cy="9052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4" name="矩形 13"/>
          <p:cNvSpPr/>
          <p:nvPr/>
        </p:nvSpPr>
        <p:spPr>
          <a:xfrm>
            <a:off x="1043917" y="2479214"/>
            <a:ext cx="1371621" cy="12142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/>
          <p:cNvCxnSpPr/>
          <p:nvPr/>
        </p:nvCxnSpPr>
        <p:spPr>
          <a:xfrm>
            <a:off x="2539469" y="2479214"/>
            <a:ext cx="54864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432181" y="2479214"/>
            <a:ext cx="4581266" cy="1669255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1060560" y="3718628"/>
            <a:ext cx="4477286" cy="182263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>
            <a:off x="1060560" y="3764507"/>
            <a:ext cx="3050" cy="4571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805018" y="264494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1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8248828" y="2633118"/>
            <a:ext cx="14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1</a:t>
            </a:r>
            <a:endParaRPr lang="zh-TW" altLang="en-US" dirty="0"/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057534"/>
              </p:ext>
            </p:extLst>
          </p:nvPr>
        </p:nvGraphicFramePr>
        <p:xfrm>
          <a:off x="7400703" y="3050927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35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群組 38"/>
          <p:cNvGrpSpPr/>
          <p:nvPr/>
        </p:nvGrpSpPr>
        <p:grpSpPr>
          <a:xfrm>
            <a:off x="5742105" y="3029695"/>
            <a:ext cx="976647" cy="903853"/>
            <a:chOff x="6233160" y="2592324"/>
            <a:chExt cx="1472184" cy="1362456"/>
          </a:xfrm>
        </p:grpSpPr>
        <p:sp>
          <p:nvSpPr>
            <p:cNvPr id="40" name="矩形 39"/>
            <p:cNvSpPr/>
            <p:nvPr/>
          </p:nvSpPr>
          <p:spPr>
            <a:xfrm>
              <a:off x="6233160" y="2592324"/>
              <a:ext cx="1472184" cy="13624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1" name="直線接點 40"/>
            <p:cNvCxnSpPr/>
            <p:nvPr/>
          </p:nvCxnSpPr>
          <p:spPr>
            <a:xfrm>
              <a:off x="6501384" y="2834640"/>
              <a:ext cx="960120" cy="90525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1 Feature </a:t>
            </a:r>
            <a:r>
              <a:rPr lang="en-US" altLang="zh-TW" dirty="0" smtClean="0"/>
              <a:t>Map 2</a:t>
            </a:r>
            <a:endParaRPr lang="zh-TW" altLang="en-US" dirty="0"/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83908"/>
              </p:ext>
            </p:extLst>
          </p:nvPr>
        </p:nvGraphicFramePr>
        <p:xfrm>
          <a:off x="1043917" y="2497502"/>
          <a:ext cx="4106673" cy="35492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</a:tblGrid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936698"/>
              </p:ext>
            </p:extLst>
          </p:nvPr>
        </p:nvGraphicFramePr>
        <p:xfrm>
          <a:off x="5537846" y="4148469"/>
          <a:ext cx="1475601" cy="1392795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491867"/>
                <a:gridCol w="491867"/>
                <a:gridCol w="491867"/>
              </a:tblGrid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9003" marR="79003" marT="39501" marB="39501"/>
                </a:tc>
              </a:tr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</a:tr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</a:tr>
            </a:tbl>
          </a:graphicData>
        </a:graphic>
      </p:graphicFrame>
      <p:sp>
        <p:nvSpPr>
          <p:cNvPr id="31" name="矩形 30"/>
          <p:cNvSpPr/>
          <p:nvPr/>
        </p:nvSpPr>
        <p:spPr>
          <a:xfrm>
            <a:off x="1043917" y="2479214"/>
            <a:ext cx="1371621" cy="12142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單箭頭接點 31"/>
          <p:cNvCxnSpPr/>
          <p:nvPr/>
        </p:nvCxnSpPr>
        <p:spPr>
          <a:xfrm>
            <a:off x="2539469" y="2479214"/>
            <a:ext cx="54864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2432181" y="2479214"/>
            <a:ext cx="4581266" cy="1669255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1060560" y="3718628"/>
            <a:ext cx="4477286" cy="182263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1060560" y="3764507"/>
            <a:ext cx="3050" cy="4571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5805018" y="264494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2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248828" y="2633118"/>
            <a:ext cx="14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2</a:t>
            </a:r>
            <a:endParaRPr lang="zh-TW" altLang="en-US" dirty="0"/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343347"/>
              </p:ext>
            </p:extLst>
          </p:nvPr>
        </p:nvGraphicFramePr>
        <p:xfrm>
          <a:off x="7400703" y="3050927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20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群組 39"/>
          <p:cNvGrpSpPr/>
          <p:nvPr/>
        </p:nvGrpSpPr>
        <p:grpSpPr>
          <a:xfrm>
            <a:off x="5699835" y="3050927"/>
            <a:ext cx="1029211" cy="952500"/>
            <a:chOff x="6245352" y="4527804"/>
            <a:chExt cx="1472184" cy="1362456"/>
          </a:xfrm>
        </p:grpSpPr>
        <p:sp>
          <p:nvSpPr>
            <p:cNvPr id="41" name="矩形 40"/>
            <p:cNvSpPr/>
            <p:nvPr/>
          </p:nvSpPr>
          <p:spPr>
            <a:xfrm>
              <a:off x="6245352" y="4527804"/>
              <a:ext cx="1472184" cy="136245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/>
            <p:nvPr/>
          </p:nvCxnSpPr>
          <p:spPr>
            <a:xfrm>
              <a:off x="6501384" y="5209031"/>
              <a:ext cx="100990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1 Feature </a:t>
            </a:r>
            <a:r>
              <a:rPr lang="en-US" altLang="zh-TW" dirty="0" smtClean="0"/>
              <a:t>Map 3</a:t>
            </a:r>
            <a:endParaRPr lang="zh-TW" altLang="en-US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83908"/>
              </p:ext>
            </p:extLst>
          </p:nvPr>
        </p:nvGraphicFramePr>
        <p:xfrm>
          <a:off x="1043917" y="2497502"/>
          <a:ext cx="4106673" cy="35492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  <a:gridCol w="456297"/>
              </a:tblGrid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394359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61425"/>
              </p:ext>
            </p:extLst>
          </p:nvPr>
        </p:nvGraphicFramePr>
        <p:xfrm>
          <a:off x="5537846" y="4148469"/>
          <a:ext cx="1475601" cy="1392795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491867"/>
                <a:gridCol w="491867"/>
                <a:gridCol w="491867"/>
              </a:tblGrid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9003" marR="79003" marT="39501" marB="39501"/>
                </a:tc>
              </a:tr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79003" marR="79003" marT="39501" marB="39501"/>
                </a:tc>
              </a:tr>
              <a:tr h="4642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9003" marR="79003" marT="39501" marB="39501"/>
                </a:tc>
              </a:tr>
            </a:tbl>
          </a:graphicData>
        </a:graphic>
      </p:graphicFrame>
      <p:sp>
        <p:nvSpPr>
          <p:cNvPr id="32" name="矩形 31"/>
          <p:cNvSpPr/>
          <p:nvPr/>
        </p:nvSpPr>
        <p:spPr>
          <a:xfrm>
            <a:off x="1043917" y="2479214"/>
            <a:ext cx="1371621" cy="12142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單箭頭接點 32"/>
          <p:cNvCxnSpPr/>
          <p:nvPr/>
        </p:nvCxnSpPr>
        <p:spPr>
          <a:xfrm>
            <a:off x="2539469" y="2479214"/>
            <a:ext cx="54864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539469" y="2479214"/>
            <a:ext cx="4581266" cy="1669255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1060560" y="3718628"/>
            <a:ext cx="4477286" cy="182263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1060560" y="3764507"/>
            <a:ext cx="3050" cy="4571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5805018" y="2644948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3</a:t>
            </a:r>
            <a:endParaRPr lang="zh-TW" altLang="en-US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248828" y="2633118"/>
            <a:ext cx="14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3</a:t>
            </a:r>
            <a:endParaRPr lang="zh-TW" altLang="en-US" dirty="0"/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57178"/>
              </p:ext>
            </p:extLst>
          </p:nvPr>
        </p:nvGraphicFramePr>
        <p:xfrm>
          <a:off x="7400703" y="3050927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27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Layer 2 – </a:t>
            </a:r>
            <a:r>
              <a:rPr lang="en-US" altLang="zh-TW" dirty="0" smtClean="0"/>
              <a:t>a 3-Channel Filter (3D)</a:t>
            </a:r>
            <a:endParaRPr lang="zh-TW" altLang="en-US" dirty="0"/>
          </a:p>
        </p:txBody>
      </p:sp>
      <p:sp>
        <p:nvSpPr>
          <p:cNvPr id="6" name="等腰三角形 5"/>
          <p:cNvSpPr/>
          <p:nvPr/>
        </p:nvSpPr>
        <p:spPr>
          <a:xfrm>
            <a:off x="1423416" y="3489960"/>
            <a:ext cx="1520952" cy="96316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514349" y="2990827"/>
            <a:ext cx="1339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To recognize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907792" y="3763234"/>
            <a:ext cx="250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= define a 3-channel filter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517690"/>
              </p:ext>
            </p:extLst>
          </p:nvPr>
        </p:nvGraphicFramePr>
        <p:xfrm>
          <a:off x="7485043" y="2656462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948033"/>
              </p:ext>
            </p:extLst>
          </p:nvPr>
        </p:nvGraphicFramePr>
        <p:xfrm>
          <a:off x="7880035" y="3814241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137394"/>
              </p:ext>
            </p:extLst>
          </p:nvPr>
        </p:nvGraphicFramePr>
        <p:xfrm>
          <a:off x="8356598" y="4972020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5431016" y="3175493"/>
            <a:ext cx="1054608" cy="10546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649874" y="3455604"/>
            <a:ext cx="1054608" cy="10546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900914" y="3735715"/>
            <a:ext cx="1054608" cy="10546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8694268" y="2990827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1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107187" y="4140880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2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9618748" y="5326980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3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997015" y="4963470"/>
            <a:ext cx="2360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Each channel applies to </a:t>
            </a:r>
          </a:p>
          <a:p>
            <a:r>
              <a:rPr lang="en-US" altLang="zh-TW" dirty="0"/>
              <a:t>o</a:t>
            </a:r>
            <a:r>
              <a:rPr lang="en-US" altLang="zh-TW" dirty="0" smtClean="0"/>
              <a:t>ne feature map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9923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592686"/>
              </p:ext>
            </p:extLst>
          </p:nvPr>
        </p:nvGraphicFramePr>
        <p:xfrm>
          <a:off x="1399555" y="3128262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7" name="文字方塊 26"/>
          <p:cNvSpPr txBox="1"/>
          <p:nvPr/>
        </p:nvSpPr>
        <p:spPr>
          <a:xfrm>
            <a:off x="2247680" y="2710453"/>
            <a:ext cx="14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1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Filter Channel </a:t>
            </a:r>
            <a:r>
              <a:rPr lang="en-US" altLang="zh-TW" dirty="0" smtClean="0"/>
              <a:t>1 - Recognize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659944"/>
              </p:ext>
            </p:extLst>
          </p:nvPr>
        </p:nvGraphicFramePr>
        <p:xfrm>
          <a:off x="5427520" y="3995667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256495" y="3479552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Channel 1</a:t>
            </a:r>
            <a:endParaRPr lang="zh-TW" altLang="en-US" dirty="0"/>
          </a:p>
        </p:txBody>
      </p:sp>
      <p:cxnSp>
        <p:nvCxnSpPr>
          <p:cNvPr id="17" name="直線接點 16"/>
          <p:cNvCxnSpPr/>
          <p:nvPr/>
        </p:nvCxnSpPr>
        <p:spPr>
          <a:xfrm>
            <a:off x="2329699" y="2706254"/>
            <a:ext cx="4189980" cy="1289413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883021" y="3939157"/>
            <a:ext cx="4544499" cy="1135763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7966357" y="2697930"/>
            <a:ext cx="170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1 Result</a:t>
            </a:r>
            <a:endParaRPr lang="zh-TW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883021" y="2708007"/>
            <a:ext cx="1446678" cy="12311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/>
          <p:cNvCxnSpPr/>
          <p:nvPr/>
        </p:nvCxnSpPr>
        <p:spPr>
          <a:xfrm flipH="1">
            <a:off x="883021" y="3995667"/>
            <a:ext cx="3050" cy="4571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2484605" y="2697930"/>
            <a:ext cx="54864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841050"/>
              </p:ext>
            </p:extLst>
          </p:nvPr>
        </p:nvGraphicFramePr>
        <p:xfrm>
          <a:off x="7185906" y="3150427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3" name="直線接點 42"/>
          <p:cNvCxnSpPr/>
          <p:nvPr/>
        </p:nvCxnSpPr>
        <p:spPr>
          <a:xfrm>
            <a:off x="10097711" y="1367676"/>
            <a:ext cx="554025" cy="6380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>
            <a:off x="9573884" y="1996574"/>
            <a:ext cx="107785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H="1">
            <a:off x="9573884" y="1358532"/>
            <a:ext cx="560403" cy="6399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67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032008"/>
              </p:ext>
            </p:extLst>
          </p:nvPr>
        </p:nvGraphicFramePr>
        <p:xfrm>
          <a:off x="1401260" y="3131532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標題 2"/>
          <p:cNvSpPr txBox="1">
            <a:spLocks noGrp="1"/>
          </p:cNvSpPr>
          <p:nvPr>
            <p:ph type="title"/>
          </p:nvPr>
        </p:nvSpPr>
        <p:spPr>
          <a:xfrm>
            <a:off x="2885640" y="1249345"/>
            <a:ext cx="64207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Channel </a:t>
            </a:r>
            <a:r>
              <a:rPr lang="en-US" altLang="zh-TW" dirty="0" smtClean="0"/>
              <a:t>2 - Recognize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247680" y="2710453"/>
            <a:ext cx="14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2</a:t>
            </a:r>
            <a:endParaRPr lang="zh-TW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646983"/>
              </p:ext>
            </p:extLst>
          </p:nvPr>
        </p:nvGraphicFramePr>
        <p:xfrm>
          <a:off x="5427520" y="3995667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5256495" y="3479552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Channel 2</a:t>
            </a:r>
            <a:endParaRPr lang="zh-TW" altLang="en-US" dirty="0"/>
          </a:p>
        </p:txBody>
      </p:sp>
      <p:cxnSp>
        <p:nvCxnSpPr>
          <p:cNvPr id="20" name="直線接點 19"/>
          <p:cNvCxnSpPr/>
          <p:nvPr/>
        </p:nvCxnSpPr>
        <p:spPr>
          <a:xfrm>
            <a:off x="2329699" y="2706254"/>
            <a:ext cx="4189980" cy="1289413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883021" y="3939157"/>
            <a:ext cx="4544499" cy="1135763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7966357" y="2697930"/>
            <a:ext cx="170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2 Result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883021" y="2708007"/>
            <a:ext cx="1446678" cy="12311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 flipH="1">
            <a:off x="883021" y="3995667"/>
            <a:ext cx="3050" cy="4571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2484605" y="2697930"/>
            <a:ext cx="54864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619363"/>
              </p:ext>
            </p:extLst>
          </p:nvPr>
        </p:nvGraphicFramePr>
        <p:xfrm>
          <a:off x="7185906" y="3150427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0" name="直線接點 29"/>
          <p:cNvCxnSpPr/>
          <p:nvPr/>
        </p:nvCxnSpPr>
        <p:spPr>
          <a:xfrm>
            <a:off x="10097711" y="1367676"/>
            <a:ext cx="554025" cy="63804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9573884" y="1996574"/>
            <a:ext cx="107785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 flipH="1">
            <a:off x="9573884" y="1358532"/>
            <a:ext cx="560403" cy="6399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117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296392"/>
              </p:ext>
            </p:extLst>
          </p:nvPr>
        </p:nvGraphicFramePr>
        <p:xfrm>
          <a:off x="1398945" y="3131532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標題 2"/>
          <p:cNvSpPr txBox="1">
            <a:spLocks noGrp="1"/>
          </p:cNvSpPr>
          <p:nvPr>
            <p:ph type="title"/>
          </p:nvPr>
        </p:nvSpPr>
        <p:spPr>
          <a:xfrm>
            <a:off x="2762207" y="1249345"/>
            <a:ext cx="66675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Channel </a:t>
            </a:r>
            <a:r>
              <a:rPr lang="en-US" altLang="zh-TW" dirty="0" smtClean="0"/>
              <a:t>3 – Recognize 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247680" y="2710453"/>
            <a:ext cx="14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3</a:t>
            </a:r>
            <a:endParaRPr lang="zh-TW" altLang="en-US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490581"/>
              </p:ext>
            </p:extLst>
          </p:nvPr>
        </p:nvGraphicFramePr>
        <p:xfrm>
          <a:off x="5427520" y="3995667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</a:t>
                      </a:r>
                      <a:endParaRPr lang="zh-TW" altLang="en-US" sz="15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5256495" y="3479552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Filter Channel 3</a:t>
            </a:r>
            <a:endParaRPr lang="zh-TW" altLang="en-US" dirty="0"/>
          </a:p>
        </p:txBody>
      </p:sp>
      <p:cxnSp>
        <p:nvCxnSpPr>
          <p:cNvPr id="20" name="直線接點 19"/>
          <p:cNvCxnSpPr/>
          <p:nvPr/>
        </p:nvCxnSpPr>
        <p:spPr>
          <a:xfrm>
            <a:off x="2329699" y="2706254"/>
            <a:ext cx="4189980" cy="1289413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883021" y="3939157"/>
            <a:ext cx="4544499" cy="1135763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7966357" y="2697930"/>
            <a:ext cx="170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3 Result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883021" y="2708007"/>
            <a:ext cx="1446678" cy="12311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 flipH="1">
            <a:off x="883021" y="3995667"/>
            <a:ext cx="3050" cy="4571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2484605" y="2697930"/>
            <a:ext cx="54864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085000"/>
              </p:ext>
            </p:extLst>
          </p:nvPr>
        </p:nvGraphicFramePr>
        <p:xfrm>
          <a:off x="7185906" y="3150427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9" name="直線接點 28"/>
          <p:cNvCxnSpPr/>
          <p:nvPr/>
        </p:nvCxnSpPr>
        <p:spPr>
          <a:xfrm>
            <a:off x="10097711" y="1367676"/>
            <a:ext cx="554025" cy="6380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 flipH="1">
            <a:off x="9573884" y="1358532"/>
            <a:ext cx="560403" cy="6399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9573884" y="1996574"/>
            <a:ext cx="107785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037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7021" y="983760"/>
            <a:ext cx="9601196" cy="1303867"/>
          </a:xfrm>
        </p:spPr>
        <p:txBody>
          <a:bodyPr/>
          <a:lstStyle/>
          <a:p>
            <a:r>
              <a:rPr lang="en-US" altLang="zh-TW" dirty="0" smtClean="0"/>
              <a:t>Layer 2 Feature Map – Recognize 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70334"/>
              </p:ext>
            </p:extLst>
          </p:nvPr>
        </p:nvGraphicFramePr>
        <p:xfrm>
          <a:off x="971863" y="3049843"/>
          <a:ext cx="1789627" cy="1506659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55661"/>
                <a:gridCol w="255661"/>
                <a:gridCol w="255661"/>
                <a:gridCol w="255661"/>
                <a:gridCol w="255661"/>
                <a:gridCol w="255661"/>
                <a:gridCol w="255661"/>
              </a:tblGrid>
              <a:tr h="2152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2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2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2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2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2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2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414" marR="50414" marT="25207" marB="2520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52499"/>
              </p:ext>
            </p:extLst>
          </p:nvPr>
        </p:nvGraphicFramePr>
        <p:xfrm>
          <a:off x="3090806" y="3046306"/>
          <a:ext cx="1793827" cy="1510194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56261"/>
                <a:gridCol w="256261"/>
                <a:gridCol w="256261"/>
                <a:gridCol w="256261"/>
                <a:gridCol w="256261"/>
                <a:gridCol w="256261"/>
                <a:gridCol w="256261"/>
              </a:tblGrid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7" marB="25267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20089"/>
              </p:ext>
            </p:extLst>
          </p:nvPr>
        </p:nvGraphicFramePr>
        <p:xfrm>
          <a:off x="5189942" y="3046306"/>
          <a:ext cx="1793827" cy="1510194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56261"/>
                <a:gridCol w="256261"/>
                <a:gridCol w="256261"/>
                <a:gridCol w="256261"/>
                <a:gridCol w="256261"/>
                <a:gridCol w="256261"/>
                <a:gridCol w="256261"/>
              </a:tblGrid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2157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0532" marR="50532" marT="25266" marB="25266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969317"/>
              </p:ext>
            </p:extLst>
          </p:nvPr>
        </p:nvGraphicFramePr>
        <p:xfrm>
          <a:off x="7650635" y="2812099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740296" y="361673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+</a:t>
            </a:r>
            <a:endParaRPr lang="zh-TW" altLang="en-US" b="1" dirty="0"/>
          </a:p>
        </p:txBody>
      </p:sp>
      <p:sp>
        <p:nvSpPr>
          <p:cNvPr id="8" name="文字方塊 7"/>
          <p:cNvSpPr txBox="1"/>
          <p:nvPr/>
        </p:nvSpPr>
        <p:spPr>
          <a:xfrm>
            <a:off x="4866998" y="361673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+</a:t>
            </a:r>
            <a:endParaRPr lang="zh-TW" altLang="en-US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7147925" y="361673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=</a:t>
            </a:r>
            <a:endParaRPr lang="zh-TW" altLang="en-US" b="1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003275" y="2668227"/>
            <a:ext cx="170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1 Result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114896" y="2676974"/>
            <a:ext cx="170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2 Result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187264" y="2676974"/>
            <a:ext cx="170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3 Result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961750" y="2431853"/>
            <a:ext cx="262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for Pattern ▲</a:t>
            </a:r>
            <a:endParaRPr lang="zh-TW" altLang="en-US" dirty="0"/>
          </a:p>
        </p:txBody>
      </p:sp>
      <p:cxnSp>
        <p:nvCxnSpPr>
          <p:cNvPr id="20" name="直線接點 19"/>
          <p:cNvCxnSpPr/>
          <p:nvPr/>
        </p:nvCxnSpPr>
        <p:spPr>
          <a:xfrm>
            <a:off x="10097711" y="1367676"/>
            <a:ext cx="554025" cy="63804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9573884" y="1996574"/>
            <a:ext cx="107785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H="1">
            <a:off x="9573884" y="1358532"/>
            <a:ext cx="560403" cy="6399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1773680" y="4835147"/>
            <a:ext cx="554025" cy="6380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1249853" y="5464045"/>
            <a:ext cx="107785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>
            <a:off x="1249853" y="4826003"/>
            <a:ext cx="560403" cy="6399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3937979" y="4826003"/>
            <a:ext cx="554025" cy="63804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3414152" y="5454901"/>
            <a:ext cx="107785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H="1">
            <a:off x="3414152" y="4816859"/>
            <a:ext cx="560403" cy="6399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5988686" y="4835147"/>
            <a:ext cx="554025" cy="6380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flipH="1">
            <a:off x="5464859" y="4826003"/>
            <a:ext cx="560403" cy="6399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5464859" y="5464045"/>
            <a:ext cx="107785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69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1970532" y="827894"/>
            <a:ext cx="1874520" cy="1895044"/>
            <a:chOff x="2112264" y="3118104"/>
            <a:chExt cx="2505456" cy="2532888"/>
          </a:xfrm>
        </p:grpSpPr>
        <p:sp>
          <p:nvSpPr>
            <p:cNvPr id="5" name="矩形 4"/>
            <p:cNvSpPr/>
            <p:nvPr/>
          </p:nvSpPr>
          <p:spPr>
            <a:xfrm>
              <a:off x="2112264" y="3118104"/>
              <a:ext cx="2505456" cy="2532888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2200656" y="3206496"/>
              <a:ext cx="1520952" cy="96316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等腰三角形 6"/>
            <p:cNvSpPr/>
            <p:nvPr/>
          </p:nvSpPr>
          <p:spPr>
            <a:xfrm>
              <a:off x="2961132" y="4556760"/>
              <a:ext cx="1520952" cy="96316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310072"/>
              </p:ext>
            </p:extLst>
          </p:nvPr>
        </p:nvGraphicFramePr>
        <p:xfrm>
          <a:off x="1307083" y="2923914"/>
          <a:ext cx="3247137" cy="32769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793"/>
                <a:gridCol w="360793"/>
                <a:gridCol w="360793"/>
                <a:gridCol w="360793"/>
                <a:gridCol w="360793"/>
                <a:gridCol w="360793"/>
                <a:gridCol w="360793"/>
                <a:gridCol w="360793"/>
                <a:gridCol w="360793"/>
              </a:tblGrid>
              <a:tr h="2997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  <a:tr h="299720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/>
                    </a:p>
                  </a:txBody>
                  <a:tcPr marL="89787" marR="89787" marT="44893" marB="4489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89787" marR="89787" marT="44893" marB="44893"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85238"/>
              </p:ext>
            </p:extLst>
          </p:nvPr>
        </p:nvGraphicFramePr>
        <p:xfrm>
          <a:off x="7266587" y="2293926"/>
          <a:ext cx="3245963" cy="2732723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463709"/>
                <a:gridCol w="463709"/>
                <a:gridCol w="463709"/>
                <a:gridCol w="463709"/>
                <a:gridCol w="463709"/>
                <a:gridCol w="463709"/>
                <a:gridCol w="463709"/>
              </a:tblGrid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0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7577702" y="1913680"/>
            <a:ext cx="262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 Map for Pattern ▲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2697480" y="2923914"/>
            <a:ext cx="5632704" cy="8342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3429000" y="4475346"/>
            <a:ext cx="5785104" cy="7428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4554220" y="1023503"/>
            <a:ext cx="323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We find the </a:t>
            </a:r>
            <a:r>
              <a:rPr lang="en-US" altLang="zh-TW" sz="2400" dirty="0"/>
              <a:t>▲ </a:t>
            </a:r>
            <a:r>
              <a:rPr lang="en-US" altLang="zh-TW" sz="2400" b="1" dirty="0" smtClean="0"/>
              <a:t>pattern</a:t>
            </a:r>
            <a:r>
              <a:rPr lang="en-US" altLang="zh-TW" sz="2400" dirty="0" smtClean="0"/>
              <a:t> </a:t>
            </a:r>
            <a:r>
              <a:rPr lang="en-US" altLang="zh-TW" sz="2400" b="1" dirty="0" smtClean="0"/>
              <a:t>!</a:t>
            </a:r>
            <a:endParaRPr lang="zh-TW" altLang="en-US" sz="2400" b="1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084221" y="2813735"/>
            <a:ext cx="163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Position = [2, 3]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195475" y="4458443"/>
            <a:ext cx="163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Position = [6, 5]</a:t>
            </a:r>
            <a:endParaRPr lang="zh-TW" altLang="en-US" dirty="0"/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1563624" y="3183067"/>
            <a:ext cx="9144" cy="794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1563624" y="3183067"/>
            <a:ext cx="813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845583" y="3442221"/>
            <a:ext cx="85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x</a:t>
            </a:r>
            <a:r>
              <a:rPr lang="en-US" altLang="zh-TW" dirty="0"/>
              <a:t>-</a:t>
            </a:r>
            <a:r>
              <a:rPr lang="en-US" altLang="zh-TW" dirty="0" smtClean="0"/>
              <a:t>axis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677766" y="2778027"/>
            <a:ext cx="85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</a:t>
            </a:r>
            <a:r>
              <a:rPr lang="en-US" altLang="zh-TW" dirty="0" smtClean="0"/>
              <a:t>-axis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9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總結</a:t>
            </a:r>
            <a:r>
              <a:rPr lang="en-US" altLang="zh-TW" dirty="0" smtClean="0"/>
              <a:t> – Channel </a:t>
            </a:r>
            <a:r>
              <a:rPr lang="zh-TW" altLang="en-US" dirty="0" smtClean="0"/>
              <a:t>是複雜圖形的 </a:t>
            </a:r>
            <a:r>
              <a:rPr lang="en-US" altLang="zh-TW" dirty="0" smtClean="0"/>
              <a:t>Building Block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Convolutional Layer </a:t>
            </a:r>
            <a:r>
              <a:rPr lang="zh-TW" altLang="en-US" dirty="0" smtClean="0"/>
              <a:t>的每個 </a:t>
            </a:r>
            <a:r>
              <a:rPr lang="en-US" altLang="zh-TW" dirty="0" smtClean="0"/>
              <a:t>Filter </a:t>
            </a:r>
            <a:r>
              <a:rPr lang="zh-TW" altLang="en-US" dirty="0" smtClean="0"/>
              <a:t>定義</a:t>
            </a:r>
            <a:r>
              <a:rPr lang="en-US" altLang="zh-TW" dirty="0" smtClean="0"/>
              <a:t>(</a:t>
            </a:r>
            <a:r>
              <a:rPr lang="zh-TW" altLang="en-US" dirty="0" smtClean="0"/>
              <a:t>辨識</a:t>
            </a:r>
            <a:r>
              <a:rPr lang="en-US" altLang="zh-TW" dirty="0" smtClean="0"/>
              <a:t>)</a:t>
            </a:r>
            <a:r>
              <a:rPr lang="zh-TW" altLang="en-US" dirty="0" smtClean="0"/>
              <a:t>出一種新的 </a:t>
            </a:r>
            <a:r>
              <a:rPr lang="en-US" altLang="zh-TW" dirty="0" smtClean="0"/>
              <a:t>Feature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>
                <a:solidFill>
                  <a:schemeClr val="tx1"/>
                </a:solidFill>
              </a:rPr>
              <a:t>每個 </a:t>
            </a:r>
            <a:r>
              <a:rPr lang="en-US" altLang="zh-TW" dirty="0" smtClean="0">
                <a:solidFill>
                  <a:schemeClr val="tx1"/>
                </a:solidFill>
              </a:rPr>
              <a:t>Filter </a:t>
            </a:r>
            <a:r>
              <a:rPr lang="zh-TW" altLang="en-US" dirty="0" smtClean="0">
                <a:solidFill>
                  <a:schemeClr val="tx1"/>
                </a:solidFill>
              </a:rPr>
              <a:t>可</a:t>
            </a:r>
            <a:r>
              <a:rPr lang="zh-TW" altLang="en-US" dirty="0">
                <a:solidFill>
                  <a:schemeClr val="tx1"/>
                </a:solidFill>
              </a:rPr>
              <a:t>以</a:t>
            </a:r>
            <a:r>
              <a:rPr lang="zh-TW" altLang="en-US" dirty="0" smtClean="0">
                <a:solidFill>
                  <a:schemeClr val="tx1"/>
                </a:solidFill>
              </a:rPr>
              <a:t>有</a:t>
            </a:r>
            <a:r>
              <a:rPr lang="zh-TW" altLang="en-US" dirty="0" smtClean="0">
                <a:solidFill>
                  <a:schemeClr val="tx1"/>
                </a:solidFill>
              </a:rPr>
              <a:t>多個 </a:t>
            </a:r>
            <a:r>
              <a:rPr lang="en-US" altLang="zh-TW" dirty="0" smtClean="0">
                <a:solidFill>
                  <a:schemeClr val="tx1"/>
                </a:solidFill>
              </a:rPr>
              <a:t>Channel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chemeClr val="tx1"/>
                </a:solidFill>
              </a:rPr>
              <a:t>每個 </a:t>
            </a:r>
            <a:r>
              <a:rPr lang="en-US" altLang="zh-TW" dirty="0" smtClean="0">
                <a:solidFill>
                  <a:schemeClr val="tx1"/>
                </a:solidFill>
              </a:rPr>
              <a:t>Channel </a:t>
            </a:r>
            <a:r>
              <a:rPr lang="zh-TW" altLang="en-US" dirty="0" smtClean="0">
                <a:solidFill>
                  <a:schemeClr val="tx1"/>
                </a:solidFill>
              </a:rPr>
              <a:t>定義</a:t>
            </a:r>
            <a:r>
              <a:rPr lang="zh-TW" altLang="en-US" dirty="0">
                <a:solidFill>
                  <a:schemeClr val="tx1"/>
                </a:solidFill>
              </a:rPr>
              <a:t>出</a:t>
            </a:r>
            <a:r>
              <a:rPr lang="zh-TW" altLang="en-US" dirty="0" smtClean="0">
                <a:solidFill>
                  <a:schemeClr val="tx1"/>
                </a:solidFill>
              </a:rPr>
              <a:t>上一層「相對簡單」的一種 </a:t>
            </a:r>
            <a:r>
              <a:rPr lang="en-US" altLang="zh-TW" dirty="0" smtClean="0">
                <a:solidFill>
                  <a:schemeClr val="tx1"/>
                </a:solidFill>
              </a:rPr>
              <a:t>Feature</a:t>
            </a:r>
            <a:r>
              <a:rPr lang="zh-TW" altLang="en-US" dirty="0" smtClean="0">
                <a:solidFill>
                  <a:schemeClr val="tx1"/>
                </a:solidFill>
              </a:rPr>
              <a:t> </a:t>
            </a:r>
            <a:r>
              <a:rPr lang="zh-TW" altLang="en-US" dirty="0" smtClean="0"/>
              <a:t>在這</a:t>
            </a:r>
            <a:r>
              <a:rPr lang="zh-TW" altLang="en-US" dirty="0"/>
              <a:t>「相對複雜」 </a:t>
            </a:r>
            <a:r>
              <a:rPr lang="zh-TW" altLang="en-US" dirty="0" smtClean="0"/>
              <a:t>的</a:t>
            </a:r>
            <a:r>
              <a:rPr lang="zh-TW" altLang="en-US" dirty="0" smtClean="0">
                <a:solidFill>
                  <a:srgbClr val="FF0000"/>
                </a:solidFill>
              </a:rPr>
              <a:t>新 </a:t>
            </a:r>
            <a:r>
              <a:rPr lang="en-US" altLang="zh-TW" dirty="0" smtClean="0">
                <a:solidFill>
                  <a:srgbClr val="FF0000"/>
                </a:solidFill>
              </a:rPr>
              <a:t>Feature</a:t>
            </a:r>
            <a:r>
              <a:rPr lang="zh-TW" altLang="en-US" dirty="0" smtClean="0">
                <a:solidFill>
                  <a:srgbClr val="FF0000"/>
                </a:solidFill>
              </a:rPr>
              <a:t> 中的位置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721169"/>
              </p:ext>
            </p:extLst>
          </p:nvPr>
        </p:nvGraphicFramePr>
        <p:xfrm>
          <a:off x="3022771" y="4407713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345956"/>
              </p:ext>
            </p:extLst>
          </p:nvPr>
        </p:nvGraphicFramePr>
        <p:xfrm>
          <a:off x="5802186" y="4407713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620247"/>
              </p:ext>
            </p:extLst>
          </p:nvPr>
        </p:nvGraphicFramePr>
        <p:xfrm>
          <a:off x="8544142" y="4415568"/>
          <a:ext cx="1143417" cy="1079253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381139"/>
                <a:gridCol w="381139"/>
                <a:gridCol w="381139"/>
              </a:tblGrid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  <a:tr h="3597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75747" marR="75747" marT="37873" marB="378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747" marR="75747" marT="37873" marB="37873"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022771" y="550653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1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712602" y="550653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2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8544142" y="550653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Channel 3</a:t>
            </a:r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 flipH="1">
            <a:off x="4378523" y="4946391"/>
            <a:ext cx="560403" cy="6399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190847" y="4947339"/>
            <a:ext cx="554025" cy="63804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9793448" y="5266359"/>
            <a:ext cx="1077852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149986" y="45259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左邊一個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6925583" y="44982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右</a:t>
            </a:r>
            <a:r>
              <a:rPr lang="zh-TW" altLang="en-US" dirty="0" smtClean="0"/>
              <a:t>邊一個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9687559" y="45259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底</a:t>
            </a:r>
            <a:r>
              <a:rPr lang="zh-TW" altLang="en-US" dirty="0"/>
              <a:t>部</a:t>
            </a:r>
            <a:r>
              <a:rPr lang="zh-TW" altLang="en-US" dirty="0" smtClean="0"/>
              <a:t>一個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900742" y="4895272"/>
            <a:ext cx="21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Feature</a:t>
            </a:r>
            <a:r>
              <a:rPr lang="zh-TW" altLang="en-US" dirty="0" smtClean="0"/>
              <a:t>「三角形」</a:t>
            </a:r>
            <a:r>
              <a:rPr lang="en-US" altLang="zh-TW" dirty="0" smtClean="0"/>
              <a:t>=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305004" y="489527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+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8008259" y="489527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+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738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總結</a:t>
            </a:r>
            <a:r>
              <a:rPr lang="en-US" altLang="zh-TW" dirty="0"/>
              <a:t> – Channel </a:t>
            </a:r>
            <a:r>
              <a:rPr lang="zh-TW" altLang="en-US" dirty="0"/>
              <a:t>是複雜圖形的 </a:t>
            </a:r>
            <a:r>
              <a:rPr lang="en-US" altLang="zh-TW" dirty="0"/>
              <a:t>Building Block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組合多個 </a:t>
            </a:r>
            <a:r>
              <a:rPr lang="en-US" altLang="zh-TW" dirty="0"/>
              <a:t>Channel </a:t>
            </a:r>
            <a:r>
              <a:rPr lang="zh-TW" altLang="en-US" dirty="0"/>
              <a:t>，可以定義出「相對複雜」的一種新 </a:t>
            </a:r>
            <a:r>
              <a:rPr lang="en-US" altLang="zh-TW" dirty="0"/>
              <a:t>Feature</a:t>
            </a:r>
            <a:r>
              <a:rPr lang="zh-TW" altLang="en-US" dirty="0"/>
              <a:t>。例如上例中，</a:t>
            </a:r>
            <a:r>
              <a:rPr lang="zh-TW" altLang="en-US" dirty="0">
                <a:solidFill>
                  <a:schemeClr val="tx1"/>
                </a:solidFill>
              </a:rPr>
              <a:t>由 </a:t>
            </a:r>
            <a:r>
              <a:rPr lang="en-US" altLang="zh-TW" dirty="0">
                <a:solidFill>
                  <a:schemeClr val="tx1"/>
                </a:solidFill>
              </a:rPr>
              <a:t>3 </a:t>
            </a:r>
            <a:r>
              <a:rPr lang="zh-TW" altLang="en-US" dirty="0">
                <a:solidFill>
                  <a:schemeClr val="tx1"/>
                </a:solidFill>
              </a:rPr>
              <a:t>種「線段」的 </a:t>
            </a:r>
            <a:r>
              <a:rPr lang="en-US" altLang="zh-TW" dirty="0">
                <a:solidFill>
                  <a:schemeClr val="tx1"/>
                </a:solidFill>
              </a:rPr>
              <a:t>Features </a:t>
            </a:r>
            <a:r>
              <a:rPr lang="zh-TW" altLang="en-US" dirty="0">
                <a:solidFill>
                  <a:schemeClr val="tx1"/>
                </a:solidFill>
              </a:rPr>
              <a:t>組合出「三角形」的新 </a:t>
            </a:r>
            <a:r>
              <a:rPr lang="en-US" altLang="zh-TW" dirty="0">
                <a:solidFill>
                  <a:schemeClr val="tx1"/>
                </a:solidFill>
              </a:rPr>
              <a:t>Feature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因此，</a:t>
            </a:r>
            <a:r>
              <a:rPr lang="en-US" altLang="zh-TW" dirty="0">
                <a:solidFill>
                  <a:srgbClr val="FF0000"/>
                </a:solidFill>
              </a:rPr>
              <a:t>Filter </a:t>
            </a:r>
            <a:r>
              <a:rPr lang="zh-TW" altLang="en-US" dirty="0">
                <a:solidFill>
                  <a:srgbClr val="FF0000"/>
                </a:solidFill>
              </a:rPr>
              <a:t>的 </a:t>
            </a:r>
            <a:r>
              <a:rPr lang="en-US" altLang="zh-TW" dirty="0">
                <a:solidFill>
                  <a:srgbClr val="FF0000"/>
                </a:solidFill>
              </a:rPr>
              <a:t>Channel </a:t>
            </a:r>
            <a:r>
              <a:rPr lang="zh-TW" altLang="en-US" dirty="0">
                <a:solidFill>
                  <a:srgbClr val="FF0000"/>
                </a:solidFill>
              </a:rPr>
              <a:t>越</a:t>
            </a:r>
            <a:r>
              <a:rPr lang="zh-TW" altLang="en-US" dirty="0" smtClean="0">
                <a:solidFill>
                  <a:srgbClr val="FF0000"/>
                </a:solidFill>
              </a:rPr>
              <a:t>多，</a:t>
            </a:r>
            <a:r>
              <a:rPr lang="zh-TW" altLang="en-US" dirty="0">
                <a:solidFill>
                  <a:srgbClr val="FF0000"/>
                </a:solidFill>
              </a:rPr>
              <a:t>可以組合出的 </a:t>
            </a:r>
            <a:r>
              <a:rPr lang="en-US" altLang="zh-TW" dirty="0">
                <a:solidFill>
                  <a:srgbClr val="FF0000"/>
                </a:solidFill>
              </a:rPr>
              <a:t>Feature </a:t>
            </a:r>
            <a:r>
              <a:rPr lang="zh-TW" altLang="en-US" dirty="0">
                <a:solidFill>
                  <a:srgbClr val="FF0000"/>
                </a:solidFill>
              </a:rPr>
              <a:t>越複雜。</a:t>
            </a:r>
            <a:r>
              <a:rPr lang="zh-TW" altLang="en-US" dirty="0"/>
              <a:t>例如上例中，如果多出了辨識「垂直線段」的 </a:t>
            </a:r>
            <a:r>
              <a:rPr lang="en-US" altLang="zh-TW" dirty="0"/>
              <a:t>Channel</a:t>
            </a:r>
            <a:r>
              <a:rPr lang="zh-TW" altLang="en-US" dirty="0"/>
              <a:t>，則可以組合出「長方形」的新</a:t>
            </a:r>
            <a:r>
              <a:rPr lang="en-US" altLang="zh-TW" dirty="0"/>
              <a:t>Feature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Filter </a:t>
            </a:r>
            <a:r>
              <a:rPr lang="zh-TW" altLang="en-US" dirty="0" smtClean="0"/>
              <a:t>上的權重量 </a:t>
            </a:r>
            <a:r>
              <a:rPr lang="en-US" altLang="zh-TW" dirty="0" smtClean="0"/>
              <a:t>(weight)</a:t>
            </a:r>
            <a:r>
              <a:rPr lang="zh-TW" altLang="en-US" dirty="0"/>
              <a:t> </a:t>
            </a:r>
            <a:r>
              <a:rPr lang="zh-TW" altLang="en-US" dirty="0" smtClean="0"/>
              <a:t>決定了用來組合的上一層 </a:t>
            </a:r>
            <a:r>
              <a:rPr lang="en-US" altLang="zh-TW" dirty="0" smtClean="0"/>
              <a:t>Features</a:t>
            </a:r>
            <a:r>
              <a:rPr lang="zh-TW" altLang="en-US" dirty="0" smtClean="0"/>
              <a:t>，在不同位置上構成複雜 </a:t>
            </a:r>
            <a:r>
              <a:rPr lang="en-US" altLang="zh-TW" dirty="0" smtClean="0">
                <a:solidFill>
                  <a:srgbClr val="FF0000"/>
                </a:solidFill>
              </a:rPr>
              <a:t>Feature </a:t>
            </a:r>
            <a:r>
              <a:rPr lang="zh-TW" altLang="en-US" dirty="0" smtClean="0">
                <a:solidFill>
                  <a:srgbClr val="FF0000"/>
                </a:solidFill>
              </a:rPr>
              <a:t>的重要性 </a:t>
            </a:r>
            <a:r>
              <a:rPr lang="en-US" altLang="zh-TW" dirty="0" smtClean="0"/>
              <a:t>(</a:t>
            </a:r>
            <a:r>
              <a:rPr lang="zh-TW" altLang="en-US" dirty="0" smtClean="0"/>
              <a:t>可視為濃淡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可以「階層式地展開」</a:t>
            </a:r>
            <a:r>
              <a:rPr lang="en-US" altLang="zh-TW" dirty="0" smtClean="0"/>
              <a:t>Filter</a:t>
            </a:r>
            <a:r>
              <a:rPr lang="zh-TW" altLang="en-US" dirty="0" smtClean="0"/>
              <a:t> ，視覺化它所辨識的圖形。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04520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Part 2. Backpropagation Formula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5417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75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371</TotalTime>
  <Words>1490</Words>
  <Application>Microsoft Office PowerPoint</Application>
  <PresentationFormat>寬螢幕</PresentationFormat>
  <Paragraphs>1135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Adobe 仿宋 Std R</vt:lpstr>
      <vt:lpstr>Arial Unicode MS</vt:lpstr>
      <vt:lpstr>微軟正黑體</vt:lpstr>
      <vt:lpstr>新細明體</vt:lpstr>
      <vt:lpstr>Arial</vt:lpstr>
      <vt:lpstr>Garamond</vt:lpstr>
      <vt:lpstr>有機</vt:lpstr>
      <vt:lpstr>My Study on CNN</vt:lpstr>
      <vt:lpstr>Part 1 – Feature Extraction</vt:lpstr>
      <vt:lpstr>Input Image (Assume zero-padding)</vt:lpstr>
      <vt:lpstr>Layer 1 – Three Filters (2D)</vt:lpstr>
      <vt:lpstr>Layer 1 Feature Map 1</vt:lpstr>
      <vt:lpstr>Layer 1 Feature Map 2</vt:lpstr>
      <vt:lpstr>Layer 1 Feature Map 3</vt:lpstr>
      <vt:lpstr>Layer 2 – a 3-Channel Filter (3D)</vt:lpstr>
      <vt:lpstr>Filter Channel 1 - Recognize</vt:lpstr>
      <vt:lpstr>Filter Channel 2 - Recognize</vt:lpstr>
      <vt:lpstr>Filter Channel 3 – Recognize </vt:lpstr>
      <vt:lpstr>Layer 2 Feature Map – Recognize </vt:lpstr>
      <vt:lpstr>PowerPoint 簡報</vt:lpstr>
      <vt:lpstr>總結 – Channel 是複雜圖形的 Building Block</vt:lpstr>
      <vt:lpstr>總結 – Channel 是複雜圖形的 Building Block</vt:lpstr>
      <vt:lpstr>Part 2. Backpropagation Formula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Pear</dc:creator>
  <cp:lastModifiedBy>Pear</cp:lastModifiedBy>
  <cp:revision>186</cp:revision>
  <dcterms:created xsi:type="dcterms:W3CDTF">2017-01-31T04:05:16Z</dcterms:created>
  <dcterms:modified xsi:type="dcterms:W3CDTF">2017-01-31T16:49:35Z</dcterms:modified>
</cp:coreProperties>
</file>